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10" r:id="rId16"/>
    <p:sldId id="311" r:id="rId17"/>
    <p:sldId id="304" r:id="rId18"/>
    <p:sldId id="305" r:id="rId19"/>
    <p:sldId id="306" r:id="rId20"/>
    <p:sldId id="307" r:id="rId21"/>
    <p:sldId id="308" r:id="rId22"/>
    <p:sldId id="30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2564" autoAdjust="0"/>
  </p:normalViewPr>
  <p:slideViewPr>
    <p:cSldViewPr snapToGrid="0">
      <p:cViewPr>
        <p:scale>
          <a:sx n="50" d="100"/>
          <a:sy n="50" d="100"/>
        </p:scale>
        <p:origin x="931" y="1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958122" y="1175009"/>
            <a:ext cx="10515600" cy="2883577"/>
          </a:xfrm>
        </p:spPr>
        <p:txBody>
          <a:bodyPr>
            <a:normAutofit/>
          </a:bodyPr>
          <a:lstStyle/>
          <a:p>
            <a:r>
              <a:rPr dirty="0"/>
              <a:t>AI-Powered LaTeX </a:t>
            </a:r>
            <a:r>
              <a:rPr dirty="0" err="1"/>
              <a:t>TikZ</a:t>
            </a:r>
            <a:r>
              <a:rPr dirty="0"/>
              <a:t> Diagram Generator &amp; Chatbot Studio</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3473117" y="4517505"/>
            <a:ext cx="10515600" cy="1500187"/>
          </a:xfrm>
        </p:spPr>
        <p:txBody>
          <a:bodyPr/>
          <a:lstStyle/>
          <a:p>
            <a:r>
              <a:rPr dirty="0"/>
              <a:t>“Exploring the Power of Agentic AI with IBM Granite and IBM Bob”</a:t>
            </a:r>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040460483"/>
              </p:ext>
            </p:extLst>
          </p:nvPr>
        </p:nvGraphicFramePr>
        <p:xfrm>
          <a:off x="1206162" y="2581489"/>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GB" sz="2000" dirty="0" err="1"/>
                        <a:t>Adapa</a:t>
                      </a:r>
                      <a:r>
                        <a:rPr lang="en-GB" sz="2000" dirty="0"/>
                        <a:t> Uma Siva Sankar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GB" sz="2000" dirty="0"/>
                        <a:t>umasivashankaradapa@gmail.com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GB" sz="2000" dirty="0"/>
                        <a:t>9063652672</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stretch>
            <a:fillRect/>
          </a:stretch>
        </p:blipFill>
        <p:spPr>
          <a:xfrm>
            <a:off x="3927423" y="3683879"/>
            <a:ext cx="1349115" cy="996980"/>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2" y="1651571"/>
            <a:ext cx="10280254" cy="400110"/>
          </a:xfrm>
          <a:prstGeom prst="rect">
            <a:avLst/>
          </a:prstGeom>
          <a:noFill/>
        </p:spPr>
        <p:txBody>
          <a:bodyPr wrap="square" rtlCol="0">
            <a:spAutoFit/>
          </a:bodyPr>
          <a:lstStyle/>
          <a:p>
            <a:r>
              <a:rPr sz="2000" dirty="0"/>
              <a:t>Domain of Project – Education &amp; AI Developer Software Tools</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954107"/>
          </a:xfrm>
          <a:prstGeom prst="rect">
            <a:avLst/>
          </a:prstGeom>
          <a:noFill/>
        </p:spPr>
        <p:txBody>
          <a:bodyPr wrap="square" rtlCol="0">
            <a:spAutoFit/>
          </a:bodyPr>
          <a:lstStyle/>
          <a:p>
            <a:r>
              <a:rPr sz="2800" dirty="0"/>
              <a:t>Project Title – AI-Powered LaTeX </a:t>
            </a:r>
            <a:r>
              <a:rPr sz="2800" dirty="0" err="1"/>
              <a:t>TikZ</a:t>
            </a:r>
            <a:r>
              <a:rPr sz="2800" dirty="0"/>
              <a:t> Diagram Generator &amp; Chatbot Studio</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429312"/>
            <a:ext cx="10607040" cy="4616648"/>
          </a:xfrm>
          <a:prstGeom prst="rect">
            <a:avLst/>
          </a:prstGeom>
          <a:noFill/>
        </p:spPr>
        <p:txBody>
          <a:bodyPr wrap="square" rtlCol="0">
            <a:spAutoFit/>
          </a:bodyPr>
          <a:lstStyle/>
          <a:p>
            <a:r>
              <a:rPr dirty="0"/>
              <a:t>Problem Statement: AI LaTeX </a:t>
            </a:r>
            <a:r>
              <a:rPr dirty="0" err="1"/>
              <a:t>TikZ</a:t>
            </a:r>
            <a:r>
              <a:rPr dirty="0"/>
              <a:t> Studio</a:t>
            </a:r>
          </a:p>
          <a:p>
            <a:endParaRPr dirty="0"/>
          </a:p>
          <a:p>
            <a:r>
              <a:rPr dirty="0"/>
              <a:t>The Challenge</a:t>
            </a:r>
          </a:p>
          <a:p>
            <a:r>
              <a:rPr dirty="0"/>
              <a:t>Academic researchers, students, and professors spend countless hours manually writing complex </a:t>
            </a:r>
            <a:r>
              <a:rPr dirty="0" err="1"/>
              <a:t>TikZ</a:t>
            </a:r>
            <a:r>
              <a:rPr dirty="0"/>
              <a:t> and LaTeX code for paper diagrams (neural network architectures, ML data pipelines, microservices, decision flowcharts, UML class diagrams). Syntax errors, missing packages, and layout misalignments frequently result in frustrating compilation failures and lost research productivity. Existing AI assistants lack direct visual previews, robust auto-fix validation, and smooth conversational diagram refinement.</a:t>
            </a:r>
          </a:p>
          <a:p>
            <a:endParaRPr dirty="0"/>
          </a:p>
          <a:p>
            <a:r>
              <a:rPr dirty="0"/>
              <a:t>The Objective</a:t>
            </a:r>
          </a:p>
          <a:p>
            <a:r>
              <a:rPr dirty="0"/>
              <a:t>Build an intelligent, multi-agent conversational LaTeX </a:t>
            </a:r>
            <a:r>
              <a:rPr dirty="0" err="1"/>
              <a:t>TikZ</a:t>
            </a:r>
            <a:r>
              <a:rPr dirty="0"/>
              <a:t> Diagram Studio that turns natural language descriptions into publication-ready (IEEE, ACM, Springer) </a:t>
            </a:r>
            <a:r>
              <a:rPr dirty="0" err="1"/>
              <a:t>TikZ</a:t>
            </a:r>
            <a:r>
              <a:rPr dirty="0"/>
              <a:t> code with instant validation and live visual rendering. Key goals include:</a:t>
            </a:r>
          </a:p>
          <a:p>
            <a:r>
              <a:rPr dirty="0"/>
              <a:t>• Conversational Diagram Creation &amp; Refinement – Allow users to chat naturally with an AI assistant to create and iteratively tweak diagrams (e.g., 'change node color to light blue', 'make arrows dashed').</a:t>
            </a:r>
          </a:p>
          <a:p>
            <a:r>
              <a:rPr dirty="0"/>
              <a:t>• Multi-Agent Collaboration – Coordinate specialized agents for </a:t>
            </a:r>
            <a:r>
              <a:rPr dirty="0" err="1"/>
              <a:t>TikZ</a:t>
            </a:r>
            <a:r>
              <a:rPr dirty="0"/>
              <a:t> code generation, syntax validation, error auto-correction, and preamble extraction.</a:t>
            </a:r>
          </a:p>
          <a:p>
            <a:r>
              <a:rPr dirty="0"/>
              <a:t>• Automated Syntax Validation &amp; Auto-Fix – Check </a:t>
            </a:r>
            <a:r>
              <a:rPr dirty="0" err="1"/>
              <a:t>TikZ</a:t>
            </a:r>
            <a:r>
              <a:rPr dirty="0"/>
              <a:t> syntax rules in real-time, detect missing libraries, and auto-correct code errors before rendering.</a:t>
            </a:r>
          </a:p>
          <a:p>
            <a:r>
              <a:rPr dirty="0"/>
              <a:t>• Multi-Tab Studio &amp; Live Render – Offer instant PDF/SVG compilation, customizable template gallery, </a:t>
            </a:r>
            <a:r>
              <a:rPr dirty="0" err="1"/>
              <a:t>TikZ</a:t>
            </a:r>
            <a:r>
              <a:rPr dirty="0"/>
              <a:t> syntax playground, and session history tracking.</a:t>
            </a:r>
          </a:p>
          <a:p>
            <a:r>
              <a:rPr dirty="0"/>
              <a:t>• Smart Fallback Engine – Ensure 100% uptime with built-in template generators even when cloud model APIs are unconfigured or offline.</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r>
              <a:rPr lang="en-US" sz="2400" b="1" dirty="0"/>
              <a:t>-</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429312"/>
            <a:ext cx="10607040" cy="5262979"/>
          </a:xfrm>
          <a:prstGeom prst="rect">
            <a:avLst/>
          </a:prstGeom>
          <a:noFill/>
        </p:spPr>
        <p:txBody>
          <a:bodyPr wrap="square" rtlCol="0">
            <a:spAutoFit/>
          </a:bodyPr>
          <a:lstStyle/>
          <a:p>
            <a:r>
              <a:rPr dirty="0"/>
              <a:t>Proposed Solution: AI-Powered LaTeX </a:t>
            </a:r>
            <a:r>
              <a:rPr dirty="0" err="1"/>
              <a:t>TikZ</a:t>
            </a:r>
            <a:r>
              <a:rPr dirty="0"/>
              <a:t> Diagram Generator &amp; Chatbot Studio</a:t>
            </a:r>
          </a:p>
          <a:p>
            <a:endParaRPr dirty="0"/>
          </a:p>
          <a:p>
            <a:r>
              <a:rPr dirty="0"/>
              <a:t>The proposed solution is a multi-agent AI studio powered by IBM Bob, IBM watsonx.ai, and IBM Granite Models (</a:t>
            </a:r>
            <a:r>
              <a:rPr dirty="0" err="1"/>
              <a:t>ibm</a:t>
            </a:r>
            <a:r>
              <a:rPr dirty="0"/>
              <a:t>/granite-13b-instruct-v2) that generates, validates, and renders publication-ready LaTeX </a:t>
            </a:r>
            <a:r>
              <a:rPr dirty="0" err="1"/>
              <a:t>TikZ</a:t>
            </a:r>
            <a:r>
              <a:rPr dirty="0"/>
              <a:t> code from plain English prompts.</a:t>
            </a:r>
          </a:p>
          <a:p>
            <a:endParaRPr dirty="0"/>
          </a:p>
          <a:p>
            <a:r>
              <a:rPr dirty="0"/>
              <a:t>The system uses an autonomous multi-agent architecture coordinated via IBM Bob workflows:</a:t>
            </a:r>
          </a:p>
          <a:p>
            <a:r>
              <a:rPr dirty="0"/>
              <a:t>1. AI Chatbot Studio Agent – Engages in natural dialogue using </a:t>
            </a:r>
            <a:r>
              <a:rPr dirty="0" err="1"/>
              <a:t>Streamlit</a:t>
            </a:r>
            <a:r>
              <a:rPr dirty="0"/>
              <a:t> </a:t>
            </a:r>
            <a:r>
              <a:rPr dirty="0" err="1"/>
              <a:t>st.chat_message</a:t>
            </a:r>
            <a:r>
              <a:rPr dirty="0"/>
              <a:t> to understand user intent, generate </a:t>
            </a:r>
            <a:r>
              <a:rPr dirty="0" err="1"/>
              <a:t>TikZ</a:t>
            </a:r>
            <a:r>
              <a:rPr dirty="0"/>
              <a:t> diagrams, and apply context-aware edits.</a:t>
            </a:r>
          </a:p>
          <a:p>
            <a:r>
              <a:rPr dirty="0"/>
              <a:t>2. </a:t>
            </a:r>
            <a:r>
              <a:rPr dirty="0" err="1"/>
              <a:t>TikZ</a:t>
            </a:r>
            <a:r>
              <a:rPr dirty="0"/>
              <a:t> Generator &amp; Synthesis Agent – Prompts IBM Granite 13B to produce standalone, </a:t>
            </a:r>
            <a:r>
              <a:rPr dirty="0" err="1"/>
              <a:t>compilable</a:t>
            </a:r>
            <a:r>
              <a:rPr dirty="0"/>
              <a:t> LaTeX </a:t>
            </a:r>
            <a:r>
              <a:rPr dirty="0" err="1"/>
              <a:t>TikZ</a:t>
            </a:r>
            <a:r>
              <a:rPr dirty="0"/>
              <a:t> documents wrapped with appropriate document classes and libraries.</a:t>
            </a:r>
          </a:p>
          <a:p>
            <a:r>
              <a:rPr dirty="0"/>
              <a:t>3. Syntax Validation &amp; Auto-Correction Agent – Evaluates generated </a:t>
            </a:r>
            <a:r>
              <a:rPr dirty="0" err="1"/>
              <a:t>TikZ</a:t>
            </a:r>
            <a:r>
              <a:rPr dirty="0"/>
              <a:t> code against strict syntax rules (matching braces, valid node paths, missing packages) and triggers automatic correction passes if errors are detected.</a:t>
            </a:r>
          </a:p>
          <a:p>
            <a:r>
              <a:rPr dirty="0"/>
              <a:t>4. Smart Fallback Engine – Provides offline rule-based diagram synthesis for ML pipelines, CNNs, Transformers, microservices, and state machines, guaranteeing zero-downtime reliability.</a:t>
            </a:r>
          </a:p>
          <a:p>
            <a:r>
              <a:rPr dirty="0"/>
              <a:t>5. Interactive Web Studio – Built with </a:t>
            </a:r>
            <a:r>
              <a:rPr dirty="0" err="1"/>
              <a:t>Streamlit</a:t>
            </a:r>
            <a:r>
              <a:rPr dirty="0"/>
              <a:t>, featuring a 5-tab layout (Chatbot, Generator &amp; Editor, Template Gallery, Validator, History) with instant PDF/SVG preview rendering.</a:t>
            </a:r>
          </a:p>
          <a:p>
            <a:endParaRPr dirty="0"/>
          </a:p>
          <a:p>
            <a:r>
              <a:rPr dirty="0"/>
              <a:t>By combining Agentic AI reasoning with live validation and preview tools, the solution eliminates </a:t>
            </a:r>
            <a:r>
              <a:rPr dirty="0" err="1"/>
              <a:t>TikZ</a:t>
            </a:r>
            <a:r>
              <a:rPr dirty="0"/>
              <a:t> coding friction for researchers worldwide.</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69642"/>
            <a:ext cx="7123176" cy="523220"/>
          </a:xfrm>
          <a:prstGeom prst="rect">
            <a:avLst/>
          </a:prstGeom>
          <a:noFill/>
        </p:spPr>
        <p:txBody>
          <a:bodyPr wrap="square" lIns="91440" tIns="45720" rIns="91440" bIns="45720" rtlCol="0" anchor="t">
            <a:spAutoFit/>
          </a:bodyPr>
          <a:lstStyle/>
          <a:p>
            <a:r>
              <a:rPr lang="en-US" sz="2800" b="1"/>
              <a:t>Technology Used</a:t>
            </a:r>
            <a:endParaRPr lang="en-IN" sz="28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476831"/>
            <a:ext cx="10515600" cy="5509200"/>
          </a:xfrm>
          <a:prstGeom prst="rect">
            <a:avLst/>
          </a:prstGeom>
          <a:noFill/>
        </p:spPr>
        <p:txBody>
          <a:bodyPr wrap="square" rtlCol="0">
            <a:spAutoFit/>
          </a:bodyPr>
          <a:lstStyle/>
          <a:p>
            <a:r>
              <a:rPr dirty="0"/>
              <a:t>IBM Bob Platform – Used for designing, visually modeling, and orchestrating multi-agent diagram generation workflows.</a:t>
            </a:r>
          </a:p>
          <a:p>
            <a:endParaRPr dirty="0"/>
          </a:p>
          <a:p>
            <a:r>
              <a:rPr dirty="0"/>
              <a:t>IBM Granite Model (</a:t>
            </a:r>
            <a:r>
              <a:rPr dirty="0" err="1"/>
              <a:t>ibm</a:t>
            </a:r>
            <a:r>
              <a:rPr dirty="0"/>
              <a:t>/granite-13b-instruct-v2) – Leveraged for natural language understanding, reasoning, and synthesis of </a:t>
            </a:r>
            <a:r>
              <a:rPr dirty="0" err="1"/>
              <a:t>compilable</a:t>
            </a:r>
            <a:r>
              <a:rPr dirty="0"/>
              <a:t> LaTeX/</a:t>
            </a:r>
            <a:r>
              <a:rPr dirty="0" err="1"/>
              <a:t>TikZ</a:t>
            </a:r>
            <a:r>
              <a:rPr dirty="0"/>
              <a:t> code.</a:t>
            </a:r>
          </a:p>
          <a:p>
            <a:endParaRPr dirty="0"/>
          </a:p>
          <a:p>
            <a:r>
              <a:rPr dirty="0"/>
              <a:t>IBM watsonx.ai REST API – Handles model inference, token management, and scalable cloud execution.</a:t>
            </a:r>
          </a:p>
          <a:p>
            <a:endParaRPr dirty="0"/>
          </a:p>
          <a:p>
            <a:r>
              <a:rPr dirty="0" err="1"/>
              <a:t>Streamlit</a:t>
            </a:r>
            <a:r>
              <a:rPr dirty="0"/>
              <a:t> &amp; Python – Powers the modern, responsive 5-tab web dashboard and interactive conversational interface.</a:t>
            </a:r>
          </a:p>
          <a:p>
            <a:endParaRPr dirty="0"/>
          </a:p>
          <a:p>
            <a:r>
              <a:rPr dirty="0" err="1"/>
              <a:t>pdflatex</a:t>
            </a:r>
            <a:r>
              <a:rPr dirty="0"/>
              <a:t> &amp; pdf2svg – Used as the local and server-side compilation engine to render vector SVG and publication PDF previews.</a:t>
            </a:r>
          </a:p>
          <a:p>
            <a:endParaRPr dirty="0"/>
          </a:p>
          <a:p>
            <a:r>
              <a:rPr dirty="0"/>
              <a:t>JSON Auth Engine – Lightweight hashed user authentication system supporting login, registration, and user session persistence.</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tretch>
            <a:fillRect/>
          </a:stretch>
        </p:blipFill>
        <p:spPr>
          <a:xfrm>
            <a:off x="1034321" y="1072394"/>
            <a:ext cx="10058400" cy="4918175"/>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tretch>
            <a:fillRect/>
          </a:stretch>
        </p:blipFill>
        <p:spPr>
          <a:xfrm>
            <a:off x="1070124" y="1123610"/>
            <a:ext cx="10051752" cy="515638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670710" y="570605"/>
            <a:ext cx="10850580"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tretch>
            <a:fillRect/>
          </a:stretch>
        </p:blipFill>
        <p:spPr>
          <a:xfrm>
            <a:off x="537589" y="1053082"/>
            <a:ext cx="11314999" cy="519531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9473784" y="3429000"/>
            <a:ext cx="2403973" cy="2518347"/>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314243" y="329184"/>
            <a:ext cx="9317736" cy="4185761"/>
          </a:xfrm>
          <a:prstGeom prst="rect">
            <a:avLst/>
          </a:prstGeom>
          <a:noFill/>
        </p:spPr>
        <p:txBody>
          <a:bodyPr wrap="square" rtlCol="0">
            <a:spAutoFit/>
          </a:bodyPr>
          <a:lstStyle/>
          <a:p>
            <a:r>
              <a:rPr sz="2800" b="1" dirty="0"/>
              <a:t>Role of Agentic AI in </a:t>
            </a:r>
            <a:r>
              <a:rPr sz="2800" b="1" dirty="0" err="1"/>
              <a:t>TikZ</a:t>
            </a:r>
            <a:r>
              <a:rPr sz="2800" b="1" dirty="0"/>
              <a:t> Diagram Studio</a:t>
            </a:r>
          </a:p>
          <a:p>
            <a:endParaRPr dirty="0"/>
          </a:p>
          <a:p>
            <a:r>
              <a:rPr dirty="0"/>
              <a:t>Agentic AI enables the system to operate as a proactive, collaborative diagram engineering assistant rather than a static text generator. Using IBM Bob orchestration and IBM Granite models, it coordinates autonomous specialized agents:</a:t>
            </a:r>
          </a:p>
          <a:p>
            <a:endParaRPr dirty="0"/>
          </a:p>
          <a:p>
            <a:r>
              <a:rPr dirty="0"/>
              <a:t>1. Autonomous Multi-Agent Coordination – Separate specialized agents handle conversational interaction, code synthesis, syntax validation, error correction, and rendering.</a:t>
            </a:r>
          </a:p>
          <a:p>
            <a:r>
              <a:rPr dirty="0"/>
              <a:t>2. Iterative Context-Aware Editing – The agent understands conversational instructions (e.g., 'make arrows dashed', 'change box color to emerald') and modifies existing </a:t>
            </a:r>
            <a:r>
              <a:rPr dirty="0" err="1"/>
              <a:t>TikZ</a:t>
            </a:r>
            <a:r>
              <a:rPr dirty="0"/>
              <a:t> code without destroying surrounding structure.</a:t>
            </a:r>
          </a:p>
          <a:p>
            <a:r>
              <a:rPr dirty="0"/>
              <a:t>3. Self-Correction &amp; Feedback Loop – If generated code contains syntax errors or missing libraries, the Validation Agent catches them and instructs the correction pipeline to fix the code autonomously before presenting it to the user.</a:t>
            </a:r>
          </a:p>
          <a:p>
            <a:r>
              <a:rPr dirty="0"/>
              <a:t>4. Goal-Oriented Reasoning – The system automatically detects diagram types (ML pipeline, CNN, Transformer encoder, microservices, UML, state machines) and selects optimal layout parameters and </a:t>
            </a:r>
            <a:r>
              <a:rPr dirty="0" err="1"/>
              <a:t>TikZ</a:t>
            </a:r>
            <a:r>
              <a:rPr dirty="0"/>
              <a:t> packages.</a:t>
            </a:r>
          </a:p>
          <a:p>
            <a:endParaRPr dirty="0"/>
          </a:p>
          <a:p>
            <a:r>
              <a:rPr dirty="0"/>
              <a:t>Overall, Agentic AI transforms complex LaTeX diagramming into an effortless conversational experience for researchers and developers.</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414814" y="2663779"/>
            <a:ext cx="5095875" cy="2432303"/>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96869" y="2451181"/>
            <a:ext cx="5649989"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937325"/>
            <a:ext cx="11163874" cy="523669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44264"/>
            <a:ext cx="10493347" cy="516896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683464" y="205645"/>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1044263"/>
            <a:ext cx="10583014" cy="5219377"/>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55AC7-3700-4529-B8B9-136466339F4B}"/>
              </a:ext>
            </a:extLst>
          </p:cNvPr>
          <p:cNvSpPr>
            <a:spLocks noGrp="1"/>
          </p:cNvSpPr>
          <p:nvPr>
            <p:ph type="title"/>
          </p:nvPr>
        </p:nvSpPr>
        <p:spPr>
          <a:xfrm>
            <a:off x="283210" y="1012508"/>
            <a:ext cx="9394190" cy="701040"/>
          </a:xfrm>
        </p:spPr>
        <p:txBody>
          <a:bodyPr>
            <a:normAutofit fontScale="90000"/>
          </a:bodyPr>
          <a:lstStyle/>
          <a:p>
            <a:r>
              <a:rPr lang="en-US" b="1" dirty="0">
                <a:sym typeface="Times New Roman"/>
              </a:rPr>
              <a:t> </a:t>
            </a:r>
            <a:r>
              <a:rPr lang="en-US" sz="2800" b="1" dirty="0">
                <a:sym typeface="Times New Roman"/>
              </a:rPr>
              <a:t>Project Output Screenshot</a:t>
            </a:r>
            <a:br>
              <a:rPr lang="en-US" b="1" dirty="0">
                <a:sym typeface="Times New Roman"/>
              </a:rPr>
            </a:br>
            <a:endParaRPr lang="en-IN" dirty="0"/>
          </a:p>
        </p:txBody>
      </p:sp>
      <p:sp>
        <p:nvSpPr>
          <p:cNvPr id="3" name="Text Placeholder 2">
            <a:extLst>
              <a:ext uri="{FF2B5EF4-FFF2-40B4-BE49-F238E27FC236}">
                <a16:creationId xmlns:a16="http://schemas.microsoft.com/office/drawing/2014/main" id="{63275083-3267-48E0-A20D-211EF933D922}"/>
              </a:ext>
            </a:extLst>
          </p:cNvPr>
          <p:cNvSpPr>
            <a:spLocks noGrp="1"/>
          </p:cNvSpPr>
          <p:nvPr>
            <p:ph type="body" idx="1"/>
          </p:nvPr>
        </p:nvSpPr>
        <p:spPr>
          <a:xfrm>
            <a:off x="511810" y="1363028"/>
            <a:ext cx="10515600" cy="4961572"/>
          </a:xfrm>
        </p:spPr>
        <p:txBody>
          <a:bodyPr/>
          <a:lstStyle/>
          <a:p>
            <a:endParaRPr lang="en-IN" dirty="0"/>
          </a:p>
        </p:txBody>
      </p:sp>
      <p:pic>
        <p:nvPicPr>
          <p:cNvPr id="5" name="Picture 4">
            <a:extLst>
              <a:ext uri="{FF2B5EF4-FFF2-40B4-BE49-F238E27FC236}">
                <a16:creationId xmlns:a16="http://schemas.microsoft.com/office/drawing/2014/main" id="{0539E177-3BAB-48CD-AF2A-ABD93280B587}"/>
              </a:ext>
            </a:extLst>
          </p:cNvPr>
          <p:cNvPicPr>
            <a:picLocks noChangeAspect="1"/>
          </p:cNvPicPr>
          <p:nvPr/>
        </p:nvPicPr>
        <p:blipFill>
          <a:blip r:embed="rId2"/>
          <a:stretch>
            <a:fillRect/>
          </a:stretch>
        </p:blipFill>
        <p:spPr>
          <a:xfrm>
            <a:off x="511810" y="1164908"/>
            <a:ext cx="10643870" cy="5159692"/>
          </a:xfrm>
          <a:prstGeom prst="rect">
            <a:avLst/>
          </a:prstGeom>
        </p:spPr>
      </p:pic>
    </p:spTree>
    <p:extLst>
      <p:ext uri="{BB962C8B-B14F-4D97-AF65-F5344CB8AC3E}">
        <p14:creationId xmlns:p14="http://schemas.microsoft.com/office/powerpoint/2010/main" val="2071637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51BFFA-51FD-40DC-B723-AAD195E75588}"/>
              </a:ext>
            </a:extLst>
          </p:cNvPr>
          <p:cNvSpPr/>
          <p:nvPr/>
        </p:nvSpPr>
        <p:spPr>
          <a:xfrm>
            <a:off x="380176" y="218030"/>
            <a:ext cx="6249224" cy="681469"/>
          </a:xfrm>
          <a:prstGeom prst="rect">
            <a:avLst/>
          </a:prstGeom>
        </p:spPr>
        <p:txBody>
          <a:bodyPr wrap="square">
            <a:spAutoFit/>
          </a:bodyPr>
          <a:lstStyle/>
          <a:p>
            <a:pPr>
              <a:lnSpc>
                <a:spcPct val="157142"/>
              </a:lnSpc>
              <a:buClr>
                <a:srgbClr val="051D3A"/>
              </a:buClr>
              <a:buSzPts val="3500"/>
            </a:pPr>
            <a:r>
              <a:rPr lang="en-US" b="1" dirty="0">
                <a:sym typeface="Times New Roman"/>
              </a:rPr>
              <a:t> </a:t>
            </a:r>
            <a:r>
              <a:rPr lang="en-US" sz="2800" b="1" dirty="0">
                <a:sym typeface="Times New Roman"/>
              </a:rPr>
              <a:t>Project Output Screenshot</a:t>
            </a:r>
          </a:p>
        </p:txBody>
      </p:sp>
      <p:pic>
        <p:nvPicPr>
          <p:cNvPr id="4" name="Picture 3">
            <a:extLst>
              <a:ext uri="{FF2B5EF4-FFF2-40B4-BE49-F238E27FC236}">
                <a16:creationId xmlns:a16="http://schemas.microsoft.com/office/drawing/2014/main" id="{4C31DC80-E19D-4D18-89E2-A39047994718}"/>
              </a:ext>
            </a:extLst>
          </p:cNvPr>
          <p:cNvPicPr>
            <a:picLocks noChangeAspect="1"/>
          </p:cNvPicPr>
          <p:nvPr/>
        </p:nvPicPr>
        <p:blipFill>
          <a:blip r:embed="rId2"/>
          <a:stretch>
            <a:fillRect/>
          </a:stretch>
        </p:blipFill>
        <p:spPr>
          <a:xfrm>
            <a:off x="609600" y="1143339"/>
            <a:ext cx="10972800" cy="5013413"/>
          </a:xfrm>
          <a:prstGeom prst="rect">
            <a:avLst/>
          </a:prstGeom>
        </p:spPr>
      </p:pic>
    </p:spTree>
    <p:extLst>
      <p:ext uri="{BB962C8B-B14F-4D97-AF65-F5344CB8AC3E}">
        <p14:creationId xmlns:p14="http://schemas.microsoft.com/office/powerpoint/2010/main" val="1270915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45008" y="42367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1564243"/>
            <a:ext cx="11301984" cy="5293757"/>
          </a:xfrm>
          <a:prstGeom prst="rect">
            <a:avLst/>
          </a:prstGeom>
          <a:noFill/>
        </p:spPr>
        <p:txBody>
          <a:bodyPr wrap="square" rtlCol="0">
            <a:spAutoFit/>
          </a:bodyPr>
          <a:lstStyle/>
          <a:p>
            <a:r>
              <a:rPr dirty="0"/>
              <a:t>The AI LaTeX </a:t>
            </a:r>
            <a:r>
              <a:rPr dirty="0" err="1"/>
              <a:t>TikZ</a:t>
            </a:r>
            <a:r>
              <a:rPr dirty="0"/>
              <a:t> Diagram Studio stands out through its unique integration of Agentic AI, real-time code validation, and multi-modal studio tools:</a:t>
            </a:r>
          </a:p>
          <a:p>
            <a:endParaRPr dirty="0"/>
          </a:p>
          <a:p>
            <a:r>
              <a:rPr dirty="0"/>
              <a:t>• Multi-Agent Collaboration – Specialized agents work together for generation, validation, preamble extraction, and auto-correction.</a:t>
            </a:r>
          </a:p>
          <a:p>
            <a:r>
              <a:rPr dirty="0"/>
              <a:t>• Conversational Diagram Editing – Allows natural back-and-forth refinement (colors, shapes, alignment) preserving document integrity.</a:t>
            </a:r>
          </a:p>
          <a:p>
            <a:r>
              <a:rPr dirty="0"/>
              <a:t>• Automated Syntax &amp; Package Inspector – Validates </a:t>
            </a:r>
            <a:r>
              <a:rPr dirty="0" err="1"/>
              <a:t>TikZ</a:t>
            </a:r>
            <a:r>
              <a:rPr dirty="0"/>
              <a:t> code structure, detects missing packages, and auto-fixes errors.</a:t>
            </a:r>
          </a:p>
          <a:p>
            <a:r>
              <a:rPr dirty="0"/>
              <a:t>• Dual AI Engine Architecture – Combines cloud-based IBM Granite 13B LLM with an offline Smart AI Engine to ensure 100% uptime.</a:t>
            </a:r>
          </a:p>
          <a:p>
            <a:r>
              <a:rPr dirty="0"/>
              <a:t>• Comprehensive 5-Tab Studio – Includes AI Chatbot, Live Code Editor, 1-Click Template Gallery, Standalone Validator, and Session History.</a:t>
            </a:r>
          </a:p>
          <a:p>
            <a:r>
              <a:rPr dirty="0"/>
              <a:t>• Publication-Ready Quality – Generates clean standalone code formatted for IEEE, ACM, Springer, and Overleaf compilation.</a:t>
            </a:r>
          </a:p>
          <a:p>
            <a:endParaRPr dirty="0"/>
          </a:p>
          <a:p>
            <a:r>
              <a:rPr dirty="0"/>
              <a:t>This makes the project a complete, end-to-end intelligent assistant for scientific and technical visualization.</a:t>
            </a:r>
          </a:p>
        </p:txBody>
      </p:sp>
    </p:spTree>
    <p:extLst>
      <p:ext uri="{BB962C8B-B14F-4D97-AF65-F5344CB8AC3E}">
        <p14:creationId xmlns:p14="http://schemas.microsoft.com/office/powerpoint/2010/main" val="2325282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r>
              <a:rPr dirty="0"/>
              <a:t>GitHub Repository &amp; Live App Links:</a:t>
            </a:r>
          </a:p>
          <a:p>
            <a:endParaRPr dirty="0"/>
          </a:p>
          <a:p>
            <a:r>
              <a:rPr dirty="0"/>
              <a:t>• GitHub Public Repository:</a:t>
            </a:r>
            <a:endParaRPr lang="en-GB" dirty="0"/>
          </a:p>
          <a:p>
            <a:endParaRPr dirty="0"/>
          </a:p>
          <a:p>
            <a:r>
              <a:rPr sz="2000" b="1" dirty="0"/>
              <a:t>https://github.com/ADAPAUMA/AI-LaTeX-TikZ-Studio</a:t>
            </a:r>
          </a:p>
          <a:p>
            <a:endParaRPr dirty="0"/>
          </a:p>
          <a:p>
            <a:r>
              <a:rPr dirty="0"/>
              <a:t>• Live </a:t>
            </a:r>
            <a:r>
              <a:rPr dirty="0" err="1"/>
              <a:t>Streamlit</a:t>
            </a:r>
            <a:r>
              <a:rPr dirty="0"/>
              <a:t> App URL:</a:t>
            </a:r>
            <a:endParaRPr lang="en-GB" dirty="0"/>
          </a:p>
          <a:p>
            <a:endParaRPr lang="en-GB" dirty="0"/>
          </a:p>
          <a:p>
            <a:r>
              <a:rPr lang="en-IN" sz="2000" b="1" dirty="0"/>
              <a:t>https://adapauma-tikz-studio.streamlit.app/</a:t>
            </a:r>
          </a:p>
          <a:p>
            <a:endParaRPr dirty="0"/>
          </a:p>
          <a:p>
            <a:r>
              <a:rPr dirty="0"/>
              <a:t>Repository includes complete source code: app.py, auth.py, tikz_generator.py, granite_client.py, validator.py, renderer.py, prompt_templates.py, requirements.txt, and submission documentation.</a:t>
            </a: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t>1. Multimodal Sketch-to-TikZ Conversion –</a:t>
            </a:r>
          </a:p>
          <a:p>
            <a:r>
              <a:t>Integrate computer vision models allowing users to upload hand-drawn diagram sketches or whiteboard photos and automatically convert them into structured LaTeX TikZ code.</a:t>
            </a:r>
          </a:p>
          <a:p>
            <a:endParaRPr/>
          </a:p>
          <a:p>
            <a:r>
              <a:t>2. Direct Overleaf API &amp; Cloud IDE Integration –</a:t>
            </a:r>
          </a:p>
          <a:p>
            <a:r>
              <a:t>Connect the studio directly to Overleaf and VS Code via extensions, enabling 1-click insertion of generated TikZ diagrams directly into live research paper TeX documents.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3BA17EAA-B5FE-4FB4-A564-3DA0EB15E2C1}"/>
              </a:ext>
            </a:extLst>
          </p:cNvPr>
          <p:cNvPicPr>
            <a:picLocks noChangeAspect="1"/>
          </p:cNvPicPr>
          <p:nvPr/>
        </p:nvPicPr>
        <p:blipFill>
          <a:blip r:embed="rId2"/>
          <a:stretch>
            <a:fillRect/>
          </a:stretch>
        </p:blipFill>
        <p:spPr>
          <a:xfrm>
            <a:off x="630311" y="874378"/>
            <a:ext cx="10931378" cy="577624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tretch>
            <a:fillRect/>
          </a:stretch>
        </p:blipFill>
        <p:spPr>
          <a:xfrm>
            <a:off x="454108" y="903499"/>
            <a:ext cx="11283784" cy="5728110"/>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Tree>
    <p:extLst>
      <p:ext uri="{BB962C8B-B14F-4D97-AF65-F5344CB8AC3E}">
        <p14:creationId xmlns:p14="http://schemas.microsoft.com/office/powerpoint/2010/main" val="4175177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1362</Words>
  <Application>Microsoft Office PowerPoint</Application>
  <PresentationFormat>Widescreen</PresentationFormat>
  <Paragraphs>127</Paragraphs>
  <Slides>22</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AI-Powered LaTeX TikZ Diagram Generator &amp; Chatbot Studio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Project Output Screenshot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Acer</cp:lastModifiedBy>
  <cp:revision>9</cp:revision>
  <dcterms:created xsi:type="dcterms:W3CDTF">2025-07-08T05:06:56Z</dcterms:created>
  <dcterms:modified xsi:type="dcterms:W3CDTF">2026-09-08T12:31:33Z</dcterms:modified>
</cp:coreProperties>
</file>